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06" r:id="rId2"/>
    <p:sldId id="307" r:id="rId3"/>
    <p:sldId id="409" r:id="rId4"/>
    <p:sldId id="394" r:id="rId5"/>
    <p:sldId id="411" r:id="rId6"/>
    <p:sldId id="412" r:id="rId7"/>
    <p:sldId id="413" r:id="rId8"/>
    <p:sldId id="414" r:id="rId9"/>
    <p:sldId id="410" r:id="rId10"/>
    <p:sldId id="321" r:id="rId11"/>
    <p:sldId id="395" r:id="rId12"/>
    <p:sldId id="398" r:id="rId13"/>
    <p:sldId id="396" r:id="rId14"/>
    <p:sldId id="399" r:id="rId15"/>
    <p:sldId id="400" r:id="rId16"/>
    <p:sldId id="401" r:id="rId17"/>
    <p:sldId id="402" r:id="rId18"/>
    <p:sldId id="403" r:id="rId19"/>
    <p:sldId id="404" r:id="rId20"/>
    <p:sldId id="408" r:id="rId21"/>
    <p:sldId id="407" r:id="rId22"/>
    <p:sldId id="405" r:id="rId23"/>
    <p:sldId id="406" r:id="rId24"/>
    <p:sldId id="327" r:id="rId25"/>
  </p:sldIdLst>
  <p:sldSz cx="9144000" cy="5143500" type="screen16x9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000000"/>
    <a:srgbClr val="FFFAEB"/>
    <a:srgbClr val="FFF1C5"/>
    <a:srgbClr val="FFDB69"/>
    <a:srgbClr val="E4C9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351" y="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1" d="100"/>
          <a:sy n="61" d="100"/>
        </p:scale>
        <p:origin x="-321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CDB1E-9234-4DE3-B1B0-A3145D9229B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A8746-F1BF-4756-BE87-F7DCC251C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62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472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63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4457-7313-B58D-E162-AA70971A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D50AB0-73D1-BF5A-C0EC-3C630856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094D1D-37AD-143E-8FC3-EB45FCEFE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194D01-D7B2-F247-0990-FE8BFE47F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78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0FA1-CE59-A34E-2705-67A6A224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29201E-9F55-2561-1005-0498C5E27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53FDDB-64A1-0084-8CDA-6661BC519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6AAD95-AD15-78A4-022E-25C18759A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616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2D834-AA11-5878-EDD0-78432C71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956645-8192-1631-2073-D389444E5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921632-509F-9C3B-01D9-E17FB7F20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28C38A-8F7C-340C-6AB6-E3069E094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151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C228-DCA7-104E-15C2-EF46BCC9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D212D1-DCD1-BB2F-9396-FC0DB180B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CCC31B-4BEF-2924-5FA3-EC01F9D67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E4B81-67E7-6550-5D81-8B82FD421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231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195D-BE04-78DC-AC3A-F5496B79A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CD5EC6-F7B9-4D5C-3FA7-28746B4EB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912EC0-7548-B127-321A-3BC0A5BB4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81BB4D-7D43-15B5-EDD6-5989893C9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285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DA59-C9B4-D929-335B-9577CA50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50B0CA-EC7D-3CED-3BBD-2B9CCA681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DDBF80-2BE6-0BAE-7D6B-2F1BCE496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6E0C6-0CC8-F21C-F92E-866A77090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431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5D68-F7CA-D8E2-22D5-301BDF51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D10201-577F-2044-8E30-CD47549DB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DD96D2-B3F7-D8A0-235E-680C4E3E2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082B14-CEAA-78E3-83B2-6E4F985D2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147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524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FC25-6F76-8CBC-0B87-1F6FE5E5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E32C3E-BF1E-4D4F-6F04-762D86573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F932FB-E6A7-AD91-5930-832CC7FD6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288FB5-C403-FBF4-BE34-B2C66B9FB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420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DB69-3438-E7B7-D559-D5E1F0AD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252507-A8D4-8ABE-1233-41B1FC78A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92B97A-A19C-5F71-1626-31FCD6823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5534E-EE21-C695-A19B-04A12E41B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611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F2256-B2A5-FC0A-D51E-5DDB070A7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45A27B-A827-4BF5-F25D-412FDD63E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A956D1-F7EA-F504-2D24-111E24A0D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E7BB0-EDB8-6609-F0C2-27E91D72E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45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1517-CD32-3007-4B33-CD817B4F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F90DD7-4710-6F7D-9CA2-1DD2DD3B3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71B46E-A796-DD9B-2273-CEA3CD1EF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D119B5-3F7A-F0B4-2838-FD429146D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3255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1E81B-680B-B130-0DDA-F4074325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78E1F6-1D3A-33DC-6C41-F81DDD66B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3C269A-C84E-B651-7FD3-E97F5A0A3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AACAC9-26F5-573E-AFD4-AFD8D8FFF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133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F8427-11E4-4CF9-5A22-049C7368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51AC9-BEEF-3593-FB97-BBB4361B3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0B0866-AE95-1C4A-8EBD-4E6A07503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8DDBEA-1EDF-D1E7-C33C-5C269916D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288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6276-3293-ACDE-821E-464FDEEF5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DAD9EE-6625-ABE1-97C2-DC5D3C5A3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33C764-B41A-6CE7-FA69-240EC3792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63EBC0-7B97-A85A-37CD-29A78A84E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39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AA19B-338D-FDE9-2D4F-49B20EC21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FBF8C0-8C51-10F0-5110-64C8FB430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9156C7-F969-25DF-B384-38C8604DA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07D3ED-2231-54E7-FDA9-CB87CC881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604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350A-A4D2-B225-7D01-34F8DC7A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FD2355-EE56-31E9-22EB-7FD4EB547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E9EFCD-33B7-703A-2C04-5EBADCD63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0EC2D9-2585-0E4D-C703-6AB3DA529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430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2E6C-FFC9-A035-2321-D0FACB98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C49879-B943-BEC3-731F-2B8A63E36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DCE0D9-EC6F-AB20-D2C9-7F3BD97FE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0FFBAA-7BA1-3D82-11DE-C7E456FBD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8377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38FE-E111-0184-8409-CC25463E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87B8D5-BFFA-42C2-B903-11F494D32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30DCB4-977E-0A5A-9F17-9D19B4026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2E642-2220-EFEE-A124-349B12726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59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3FC36-2CAD-1607-0F3F-7815A8B0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BCC022-E6FC-10D4-C726-9B9E2B157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1A18F-D4AE-929D-867E-A9735A01F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278419-99D1-8BE1-7A59-F489F8A90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15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1934B-51A7-A432-A626-9D3E1478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0658D5-F56C-C4F1-8E80-A2C06365B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458771-CE54-F87B-821F-BFDEA030F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31C88B-589D-35FB-1F27-337EA6A28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4552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2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05314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19872" y="2407989"/>
            <a:ext cx="2016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汇报人：笪菁宜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9772" y="1733190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语言课程期末汇报</a:t>
            </a:r>
            <a:endParaRPr lang="zh-CN" alt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05C7E86-2F70-853A-54C8-ECCF12BF223C}"/>
              </a:ext>
            </a:extLst>
          </p:cNvPr>
          <p:cNvSpPr txBox="1"/>
          <p:nvPr/>
        </p:nvSpPr>
        <p:spPr>
          <a:xfrm>
            <a:off x="683568" y="4083918"/>
            <a:ext cx="777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457200" algn="just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Addis, D. R., Wong, A. T., &amp; Schacter, D. L. (2008). Age-related changes in the episodic simulation of future events. </a:t>
            </a:r>
            <a:r>
              <a: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science</a:t>
            </a:r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(1), 33–41. https://doi.org/10.1111/j.1467-9280.2008.02043.x</a:t>
            </a:r>
          </a:p>
          <a:p>
            <a:pPr marL="360000" indent="-457200" algn="just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Open Science Collaboration (2015). PSYCHOLOGY. Estimating the reproducibility of psychological science. </a:t>
            </a:r>
            <a:r>
              <a: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Science (New York, N.Y.)</a:t>
            </a:r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349</a:t>
            </a:r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(6251), aac4716. https://doi.org/10.1126/science.aac4716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3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5BB4600-5F18-40C6-BF5E-E8C78820B854}"/>
              </a:ext>
            </a:extLst>
          </p:cNvPr>
          <p:cNvGrpSpPr/>
          <p:nvPr/>
        </p:nvGrpSpPr>
        <p:grpSpPr>
          <a:xfrm>
            <a:off x="604102" y="1347614"/>
            <a:ext cx="1075775" cy="2149930"/>
            <a:chOff x="604102" y="1347614"/>
            <a:chExt cx="1075775" cy="2149930"/>
          </a:xfrm>
        </p:grpSpPr>
        <p:grpSp>
          <p:nvGrpSpPr>
            <p:cNvPr id="3" name="组合 2"/>
            <p:cNvGrpSpPr/>
            <p:nvPr/>
          </p:nvGrpSpPr>
          <p:grpSpPr>
            <a:xfrm>
              <a:off x="755576" y="1347614"/>
              <a:ext cx="806989" cy="2149930"/>
              <a:chOff x="1477543" y="637844"/>
              <a:chExt cx="6486890" cy="3157021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765847" y="1858649"/>
              <a:ext cx="738664" cy="11278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600" b="1" dirty="0">
                  <a:cs typeface="+mn-ea"/>
                </a:rPr>
                <a:t>目录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387200" y="1623395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604102" y="2929074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B756C28-8A60-4AF9-BAA9-62973E22580C}"/>
              </a:ext>
            </a:extLst>
          </p:cNvPr>
          <p:cNvGrpSpPr/>
          <p:nvPr/>
        </p:nvGrpSpPr>
        <p:grpSpPr>
          <a:xfrm>
            <a:off x="3212859" y="1207896"/>
            <a:ext cx="3394810" cy="830997"/>
            <a:chOff x="3212859" y="1207896"/>
            <a:chExt cx="3394810" cy="830997"/>
          </a:xfrm>
        </p:grpSpPr>
        <p:sp>
          <p:nvSpPr>
            <p:cNvPr id="14" name="文本框 13"/>
            <p:cNvSpPr txBox="1"/>
            <p:nvPr/>
          </p:nvSpPr>
          <p:spPr>
            <a:xfrm>
              <a:off x="3212859" y="1207896"/>
              <a:ext cx="3394810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01</a:t>
              </a:r>
            </a:p>
            <a:p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引言</a:t>
              </a:r>
            </a:p>
            <a:p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/>
            <p:cNvCxnSpPr>
              <a:cxnSpLocks/>
              <a:endCxn id="14" idx="2"/>
            </p:cNvCxnSpPr>
            <p:nvPr/>
          </p:nvCxnSpPr>
          <p:spPr>
            <a:xfrm>
              <a:off x="3284867" y="2038893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4818E3-61B0-4B38-A0CF-F4ACC9AEB0AF}"/>
              </a:ext>
            </a:extLst>
          </p:cNvPr>
          <p:cNvGrpSpPr/>
          <p:nvPr/>
        </p:nvGrpSpPr>
        <p:grpSpPr>
          <a:xfrm>
            <a:off x="3212859" y="3097656"/>
            <a:ext cx="3394810" cy="830997"/>
            <a:chOff x="3212859" y="3097656"/>
            <a:chExt cx="3394810" cy="830997"/>
          </a:xfrm>
        </p:grpSpPr>
        <p:sp>
          <p:nvSpPr>
            <p:cNvPr id="17" name="文本框 16"/>
            <p:cNvSpPr txBox="1"/>
            <p:nvPr/>
          </p:nvSpPr>
          <p:spPr>
            <a:xfrm>
              <a:off x="3212859" y="3097656"/>
              <a:ext cx="3394810" cy="80021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03</a:t>
              </a:r>
            </a:p>
            <a:p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延伸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Extend 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284867" y="3928653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2ED4192-45D6-4F53-B272-24C6804A632A}"/>
              </a:ext>
            </a:extLst>
          </p:cNvPr>
          <p:cNvGrpSpPr/>
          <p:nvPr/>
        </p:nvGrpSpPr>
        <p:grpSpPr>
          <a:xfrm>
            <a:off x="5978782" y="1207896"/>
            <a:ext cx="1833578" cy="839499"/>
            <a:chOff x="5978782" y="1207896"/>
            <a:chExt cx="1833578" cy="839499"/>
          </a:xfrm>
        </p:grpSpPr>
        <p:sp>
          <p:nvSpPr>
            <p:cNvPr id="20" name="文本框 19"/>
            <p:cNvSpPr txBox="1"/>
            <p:nvPr/>
          </p:nvSpPr>
          <p:spPr>
            <a:xfrm>
              <a:off x="5978782" y="120789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02</a:t>
              </a:r>
            </a:p>
            <a:p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复现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Reproduce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5978782" y="204739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B023BA8-39CC-4BC9-B3D1-BD5E4687FE23}"/>
              </a:ext>
            </a:extLst>
          </p:cNvPr>
          <p:cNvGrpSpPr/>
          <p:nvPr/>
        </p:nvGrpSpPr>
        <p:grpSpPr>
          <a:xfrm>
            <a:off x="5978782" y="3097656"/>
            <a:ext cx="1833578" cy="839499"/>
            <a:chOff x="5978782" y="3097656"/>
            <a:chExt cx="1833578" cy="839499"/>
          </a:xfrm>
        </p:grpSpPr>
        <p:sp>
          <p:nvSpPr>
            <p:cNvPr id="23" name="文本框 22"/>
            <p:cNvSpPr txBox="1"/>
            <p:nvPr/>
          </p:nvSpPr>
          <p:spPr>
            <a:xfrm>
              <a:off x="5978782" y="3097656"/>
              <a:ext cx="1833578" cy="83099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04</a:t>
              </a:r>
            </a:p>
            <a:p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ai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辅助说明</a:t>
              </a:r>
              <a:endPara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Assistant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5978782" y="393715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76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9D37E-EA35-8B3A-12EF-9E1AA53F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F0FF53E-9FB1-5D96-1EC1-A6AE42ECD6C1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BFB4557-0ADB-3781-799D-35B43607CCB2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D7FCF2EA-E0C6-5A12-7CC5-69FAC627EF14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21FC834-2378-2509-8246-2E670D9A3817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D194306A-C352-463D-70AD-7F7FF4B4AC45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A62A3227-7063-07DB-B44C-CE959B07C2C7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BE25F171-8734-0E63-8C90-CD0DFC10CDBC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31AAB298-F25D-53AA-39B2-0C2DE6D50DFB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94DF38E-212D-99B6-6DAB-D878368AAF1E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937A98B5-69B4-CFD9-A35D-E636CEF7E818}"/>
              </a:ext>
            </a:extLst>
          </p:cNvPr>
          <p:cNvSpPr txBox="1"/>
          <p:nvPr/>
        </p:nvSpPr>
        <p:spPr>
          <a:xfrm>
            <a:off x="477153" y="906747"/>
            <a:ext cx="8136904" cy="102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情景记忆的</a:t>
            </a:r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传统观点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：记忆是向后投射，指向过去的事件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但是，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Tulving 1985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之后提出情景记忆也能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向前投射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mental time travel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），对过去和未来的描述都包含丰富的语境细节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0E101D-944B-BC3B-C4B8-866C2A1BC3EC}"/>
              </a:ext>
            </a:extLst>
          </p:cNvPr>
          <p:cNvSpPr txBox="1"/>
          <p:nvPr/>
        </p:nvSpPr>
        <p:spPr>
          <a:xfrm>
            <a:off x="601951" y="2253234"/>
            <a:ext cx="806489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CESH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Constructive Episodic Simulation Hypothesis（建构—情景模拟假说）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CA0632-0C7F-819C-4DA7-3410ACF0DF4D}"/>
              </a:ext>
            </a:extLst>
          </p:cNvPr>
          <p:cNvSpPr txBox="1"/>
          <p:nvPr/>
        </p:nvSpPr>
        <p:spPr>
          <a:xfrm>
            <a:off x="3698295" y="3045322"/>
            <a:ext cx="12241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情景记忆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1D8D463-EBE3-1345-DD95-18A5048E71E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10363" y="2622566"/>
            <a:ext cx="0" cy="422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AC4176E-26AB-6A04-DEBB-B42E73E844D7}"/>
              </a:ext>
            </a:extLst>
          </p:cNvPr>
          <p:cNvSpPr txBox="1"/>
          <p:nvPr/>
        </p:nvSpPr>
        <p:spPr>
          <a:xfrm>
            <a:off x="2762191" y="3828118"/>
            <a:ext cx="12241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回放过去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A9A9A4-A7C6-B6D4-72AF-CE121A6DA1C7}"/>
              </a:ext>
            </a:extLst>
          </p:cNvPr>
          <p:cNvSpPr txBox="1"/>
          <p:nvPr/>
        </p:nvSpPr>
        <p:spPr>
          <a:xfrm>
            <a:off x="4706407" y="3828118"/>
            <a:ext cx="12241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想象未来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3037E63-CF42-9037-C45F-15F6A5E754F9}"/>
              </a:ext>
            </a:extLst>
          </p:cNvPr>
          <p:cNvCxnSpPr>
            <a:stCxn id="15" idx="2"/>
            <a:endCxn id="22" idx="0"/>
          </p:cNvCxnSpPr>
          <p:nvPr/>
        </p:nvCxnSpPr>
        <p:spPr>
          <a:xfrm flipH="1">
            <a:off x="3374259" y="3414654"/>
            <a:ext cx="936104" cy="413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D1B449C-7D6A-24FA-3320-1F93C93D5885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>
            <a:off x="4310363" y="3414654"/>
            <a:ext cx="1008112" cy="413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B4E2B2D-A101-C718-E01D-72C1AEC14A87}"/>
              </a:ext>
            </a:extLst>
          </p:cNvPr>
          <p:cNvSpPr txBox="1"/>
          <p:nvPr/>
        </p:nvSpPr>
        <p:spPr>
          <a:xfrm>
            <a:off x="2690183" y="193384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Schacter &amp; Addis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62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22" grpId="0" animBg="1"/>
      <p:bldP spid="23" grpId="0" animBg="1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EFC87-40C5-1BE4-6028-AC867B76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891477A-D178-CB8D-E9E6-ADF30B8A1BBD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759D786-1D55-F9FF-3E5E-3D6AEFDC4A53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5FB40910-9D79-D5AE-94DA-91E63FDCB9E0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ED005E26-6799-F112-A857-CE35A456AE61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BF2E9DA9-EF9C-F3BB-0EE5-30456A60F33E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22503C0-5548-D7DF-59B7-FE8FDC479D3F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F95A0A49-4E9B-DAA0-EC98-5459896EAAC0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A5C7C3F1-82A2-2F2D-3985-96C834F5F50B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571A6F4-DD03-AFA2-B887-470F2C6B19CD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Introduction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E8EEDCC2-F805-FCF3-3163-7792BDA4BBE1}"/>
              </a:ext>
            </a:extLst>
          </p:cNvPr>
          <p:cNvSpPr txBox="1"/>
          <p:nvPr/>
        </p:nvSpPr>
        <p:spPr>
          <a:xfrm>
            <a:off x="683568" y="911313"/>
            <a:ext cx="806489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CESH 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Constructive Episodic Simulation Hypothesis（建构—情景模拟假说）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AF0D1D9-D80E-B01F-B1C6-54B9A5019E4B}"/>
              </a:ext>
            </a:extLst>
          </p:cNvPr>
          <p:cNvSpPr txBox="1"/>
          <p:nvPr/>
        </p:nvSpPr>
        <p:spPr>
          <a:xfrm>
            <a:off x="3779912" y="1703401"/>
            <a:ext cx="12241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情景记忆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EE49865-476E-01D5-E807-72F78871C16A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4391980" y="1280645"/>
            <a:ext cx="0" cy="422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20E9482-CFC1-6239-93D1-9FBEC286F734}"/>
              </a:ext>
            </a:extLst>
          </p:cNvPr>
          <p:cNvSpPr txBox="1"/>
          <p:nvPr/>
        </p:nvSpPr>
        <p:spPr>
          <a:xfrm>
            <a:off x="2843808" y="2486197"/>
            <a:ext cx="12241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想象未来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83EBDCE-1D9D-FF80-2438-66F9A2A95FF3}"/>
              </a:ext>
            </a:extLst>
          </p:cNvPr>
          <p:cNvSpPr txBox="1"/>
          <p:nvPr/>
        </p:nvSpPr>
        <p:spPr>
          <a:xfrm>
            <a:off x="4788024" y="2486197"/>
            <a:ext cx="12241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回放过去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BFCB4CB-D23F-3A7D-3EA4-31B25F9041F9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 flipH="1">
            <a:off x="3455876" y="2072733"/>
            <a:ext cx="936104" cy="413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B79679B-2F55-340B-2C91-7BF6E1FE26D4}"/>
              </a:ext>
            </a:extLst>
          </p:cNvPr>
          <p:cNvCxnSpPr>
            <a:stCxn id="33" idx="2"/>
            <a:endCxn id="36" idx="0"/>
          </p:cNvCxnSpPr>
          <p:nvPr/>
        </p:nvCxnSpPr>
        <p:spPr>
          <a:xfrm>
            <a:off x="4391980" y="2072733"/>
            <a:ext cx="1008112" cy="413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25953C4-6A1A-4FAA-524B-9532044B0B66}"/>
              </a:ext>
            </a:extLst>
          </p:cNvPr>
          <p:cNvSpPr txBox="1"/>
          <p:nvPr/>
        </p:nvSpPr>
        <p:spPr>
          <a:xfrm>
            <a:off x="2771800" y="591923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Schacter &amp; Addis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CD1802E-158A-D018-A6A7-E491649D0C6E}"/>
              </a:ext>
            </a:extLst>
          </p:cNvPr>
          <p:cNvSpPr txBox="1"/>
          <p:nvPr/>
        </p:nvSpPr>
        <p:spPr>
          <a:xfrm>
            <a:off x="3707904" y="3197846"/>
            <a:ext cx="144016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共享信息源</a:t>
            </a:r>
            <a:r>
              <a:rPr lang="en-US" altLang="zh-CN"/>
              <a:t>+</a:t>
            </a:r>
            <a:r>
              <a:rPr lang="zh-CN" altLang="en-US"/>
              <a:t>加工过程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E8182EE-9358-7A6F-1898-885C3A666B4C}"/>
              </a:ext>
            </a:extLst>
          </p:cNvPr>
          <p:cNvCxnSpPr>
            <a:stCxn id="35" idx="2"/>
            <a:endCxn id="41" idx="0"/>
          </p:cNvCxnSpPr>
          <p:nvPr/>
        </p:nvCxnSpPr>
        <p:spPr>
          <a:xfrm>
            <a:off x="3455876" y="2855529"/>
            <a:ext cx="972108" cy="34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E135253-6D95-79AC-2838-3FD4969531A7}"/>
              </a:ext>
            </a:extLst>
          </p:cNvPr>
          <p:cNvCxnSpPr>
            <a:stCxn id="36" idx="2"/>
            <a:endCxn id="41" idx="0"/>
          </p:cNvCxnSpPr>
          <p:nvPr/>
        </p:nvCxnSpPr>
        <p:spPr>
          <a:xfrm flipH="1">
            <a:off x="4427984" y="2855529"/>
            <a:ext cx="972108" cy="34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3ACF3610-5F4B-47D7-8B97-B50B7C0A21B3}"/>
              </a:ext>
            </a:extLst>
          </p:cNvPr>
          <p:cNvSpPr txBox="1"/>
          <p:nvPr/>
        </p:nvSpPr>
        <p:spPr>
          <a:xfrm>
            <a:off x="2051720" y="4061081"/>
            <a:ext cx="1440160" cy="92333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提取过去细节，重组成新的景象</a:t>
            </a:r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C63C6A23-4770-A4BA-247F-C76FC6D12CFA}"/>
              </a:ext>
            </a:extLst>
          </p:cNvPr>
          <p:cNvCxnSpPr>
            <a:cxnSpLocks/>
            <a:stCxn id="35" idx="1"/>
            <a:endCxn id="46" idx="1"/>
          </p:cNvCxnSpPr>
          <p:nvPr/>
        </p:nvCxnSpPr>
        <p:spPr>
          <a:xfrm rot="10800000" flipV="1">
            <a:off x="2051720" y="2670862"/>
            <a:ext cx="792088" cy="1851883"/>
          </a:xfrm>
          <a:prstGeom prst="bentConnector3">
            <a:avLst>
              <a:gd name="adj1" fmla="val 1288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468ECD3-7A6E-D059-503A-F46A8B33C984}"/>
              </a:ext>
            </a:extLst>
          </p:cNvPr>
          <p:cNvSpPr txBox="1"/>
          <p:nvPr/>
        </p:nvSpPr>
        <p:spPr>
          <a:xfrm>
            <a:off x="5620084" y="4061081"/>
            <a:ext cx="1576584" cy="92333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依赖关系记忆</a:t>
            </a:r>
            <a:endParaRPr lang="en-US" altLang="zh-CN"/>
          </a:p>
          <a:p>
            <a:pPr algn="ctr"/>
            <a:r>
              <a:rPr lang="zh-CN" altLang="en-US"/>
              <a:t>把不同元素结合在一起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B8845C2F-527E-795D-3761-B10624741615}"/>
              </a:ext>
            </a:extLst>
          </p:cNvPr>
          <p:cNvCxnSpPr>
            <a:stCxn id="46" idx="3"/>
            <a:endCxn id="51" idx="1"/>
          </p:cNvCxnSpPr>
          <p:nvPr/>
        </p:nvCxnSpPr>
        <p:spPr>
          <a:xfrm>
            <a:off x="3491880" y="4522746"/>
            <a:ext cx="2128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463AC11F-C9D1-A135-C893-32A3897BE2D9}"/>
              </a:ext>
            </a:extLst>
          </p:cNvPr>
          <p:cNvSpPr txBox="1"/>
          <p:nvPr/>
        </p:nvSpPr>
        <p:spPr>
          <a:xfrm>
            <a:off x="899592" y="2355726"/>
            <a:ext cx="7461337" cy="646331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既然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</a:t>
            </a:r>
            <a:r>
              <a:rPr lang="zh-CN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过去和未来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的记忆有共享的机制</a:t>
            </a:r>
            <a:r>
              <a:rPr lang="zh-CN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那么人随年龄增长带来</a:t>
            </a:r>
            <a:r>
              <a:rPr lang="zh-CN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的情景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记忆</a:t>
            </a:r>
            <a:r>
              <a:rPr lang="zh-CN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衰退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，是否会扩展到对</a:t>
            </a:r>
            <a:r>
              <a:rPr lang="zh-CN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未来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的想象和描述中</a:t>
            </a:r>
            <a:r>
              <a:rPr lang="zh-CN" altLang="zh-CN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？"</a:t>
            </a:r>
          </a:p>
        </p:txBody>
      </p:sp>
    </p:spTree>
    <p:extLst>
      <p:ext uri="{BB962C8B-B14F-4D97-AF65-F5344CB8AC3E}">
        <p14:creationId xmlns:p14="http://schemas.microsoft.com/office/powerpoint/2010/main" val="9203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6" grpId="0" animBg="1"/>
      <p:bldP spid="51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DD3A3-859E-5A4E-B577-57CD1E0D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C6736BD2-3B44-253E-CFAE-B1B9AE351F5B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124C497-3F81-20B3-BA6D-4C8CC012E1FB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F8F1AFCF-C097-A206-7080-3878BB2E4190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39B0D7E-9BBD-907C-13C2-2163A9956526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71DA66F-F551-FF68-8F71-92AD3998A66E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B57E6E88-4129-86EB-0269-67C30C204A70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41F7680C-9AF8-A1FC-E920-BDF3E381A3C7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B9201296-501D-5E6A-7DBF-0455169BCBF0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2AC0B63-12EC-685A-8E08-7F68559C9AEF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CCB1FE78-536A-4B54-6D1F-AFEEA9E1D795}"/>
              </a:ext>
            </a:extLst>
          </p:cNvPr>
          <p:cNvSpPr txBox="1"/>
          <p:nvPr/>
        </p:nvSpPr>
        <p:spPr>
          <a:xfrm>
            <a:off x="3933537" y="771550"/>
            <a:ext cx="1070511" cy="369332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老化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1CD3BC-6599-4D0C-3E17-CBFA11C84868}"/>
              </a:ext>
            </a:extLst>
          </p:cNvPr>
          <p:cNvSpPr txBox="1"/>
          <p:nvPr/>
        </p:nvSpPr>
        <p:spPr>
          <a:xfrm>
            <a:off x="2411760" y="1559346"/>
            <a:ext cx="166761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情景记忆</a:t>
            </a:r>
            <a:endParaRPr lang="en-US" altLang="zh-CN"/>
          </a:p>
          <a:p>
            <a:pPr algn="ctr"/>
            <a:r>
              <a:rPr lang="zh-CN" altLang="en-US"/>
              <a:t>特异性下降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C3DB7E2-82AB-3F7A-998D-EE4B620EB91F}"/>
              </a:ext>
            </a:extLst>
          </p:cNvPr>
          <p:cNvSpPr txBox="1"/>
          <p:nvPr/>
        </p:nvSpPr>
        <p:spPr>
          <a:xfrm>
            <a:off x="5207491" y="1559346"/>
            <a:ext cx="122413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/>
              <a:t>关系记忆</a:t>
            </a:r>
            <a:endParaRPr lang="en-US" altLang="zh-CN"/>
          </a:p>
          <a:p>
            <a:pPr algn="ctr"/>
            <a:r>
              <a:rPr lang="zh-CN" altLang="en-US"/>
              <a:t>加工受损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507B054-B5B2-D619-49E7-61D880C973F2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3245567" y="1145882"/>
            <a:ext cx="1157843" cy="413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CB4F4FA-C816-D89D-DE8A-2C6066E2BC7C}"/>
              </a:ext>
            </a:extLst>
          </p:cNvPr>
          <p:cNvCxnSpPr>
            <a:stCxn id="13" idx="2"/>
            <a:endCxn id="23" idx="0"/>
          </p:cNvCxnSpPr>
          <p:nvPr/>
        </p:nvCxnSpPr>
        <p:spPr>
          <a:xfrm>
            <a:off x="4468793" y="1140882"/>
            <a:ext cx="1350766" cy="41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4AFBBE8-A044-87A3-9C7E-2F17E89CD022}"/>
              </a:ext>
            </a:extLst>
          </p:cNvPr>
          <p:cNvSpPr txBox="1"/>
          <p:nvPr/>
        </p:nvSpPr>
        <p:spPr>
          <a:xfrm>
            <a:off x="2411760" y="2514034"/>
            <a:ext cx="1667614" cy="64633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提取过去记忆的细节变少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4CC1580-DC57-0387-4B1D-67F9A498F6E9}"/>
              </a:ext>
            </a:extLst>
          </p:cNvPr>
          <p:cNvCxnSpPr>
            <a:stCxn id="22" idx="2"/>
            <a:endCxn id="17" idx="0"/>
          </p:cNvCxnSpPr>
          <p:nvPr/>
        </p:nvCxnSpPr>
        <p:spPr>
          <a:xfrm>
            <a:off x="3245567" y="2205677"/>
            <a:ext cx="0" cy="308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B62C3DD-370B-92C7-78CE-25422386BADE}"/>
              </a:ext>
            </a:extLst>
          </p:cNvPr>
          <p:cNvSpPr txBox="1"/>
          <p:nvPr/>
        </p:nvSpPr>
        <p:spPr>
          <a:xfrm>
            <a:off x="5207491" y="2534360"/>
            <a:ext cx="1224136" cy="64633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重组能力受损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34D6D03-765E-6857-8728-E72FB45C2C09}"/>
              </a:ext>
            </a:extLst>
          </p:cNvPr>
          <p:cNvCxnSpPr>
            <a:stCxn id="23" idx="2"/>
            <a:endCxn id="21" idx="0"/>
          </p:cNvCxnSpPr>
          <p:nvPr/>
        </p:nvCxnSpPr>
        <p:spPr>
          <a:xfrm>
            <a:off x="5819559" y="2205677"/>
            <a:ext cx="0" cy="32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D6700D7-025F-57AD-EACA-C66B89E8E07D}"/>
              </a:ext>
            </a:extLst>
          </p:cNvPr>
          <p:cNvSpPr txBox="1"/>
          <p:nvPr/>
        </p:nvSpPr>
        <p:spPr>
          <a:xfrm>
            <a:off x="289094" y="2514033"/>
            <a:ext cx="1112985" cy="64633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CESH</a:t>
            </a:r>
          </a:p>
          <a:p>
            <a:pPr algn="ctr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理论对应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566620-D885-3742-3DD5-4908DEC2CFF5}"/>
              </a:ext>
            </a:extLst>
          </p:cNvPr>
          <p:cNvSpPr txBox="1"/>
          <p:nvPr/>
        </p:nvSpPr>
        <p:spPr>
          <a:xfrm>
            <a:off x="2432348" y="3738170"/>
            <a:ext cx="1667614" cy="73866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H1</a:t>
            </a:r>
          </a:p>
          <a:p>
            <a:r>
              <a:rPr lang="zh-CN" altLang="en-US" sz="1400"/>
              <a:t>老人对未来的情景记忆能力也应下降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A2E495E-3D09-A7E8-5582-95ACC655304E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3266155" y="3160365"/>
            <a:ext cx="0" cy="577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A9CDE1C-5876-0923-8E33-CDE55EA2B7F2}"/>
              </a:ext>
            </a:extLst>
          </p:cNvPr>
          <p:cNvSpPr txBox="1"/>
          <p:nvPr/>
        </p:nvSpPr>
        <p:spPr>
          <a:xfrm>
            <a:off x="4914320" y="3738170"/>
            <a:ext cx="1810477" cy="73866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H2</a:t>
            </a:r>
          </a:p>
          <a:p>
            <a:r>
              <a:rPr lang="zh-CN" altLang="en-US" sz="1400"/>
              <a:t>老人的情景记忆分数与关系记忆能力相关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EF17E9C-FA8E-F09C-DE77-14D4E922F47C}"/>
              </a:ext>
            </a:extLst>
          </p:cNvPr>
          <p:cNvCxnSpPr>
            <a:stCxn id="21" idx="2"/>
            <a:endCxn id="33" idx="0"/>
          </p:cNvCxnSpPr>
          <p:nvPr/>
        </p:nvCxnSpPr>
        <p:spPr>
          <a:xfrm>
            <a:off x="5819559" y="3180691"/>
            <a:ext cx="0" cy="557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EAD3F02-AE98-3E5E-0862-80286409C779}"/>
              </a:ext>
            </a:extLst>
          </p:cNvPr>
          <p:cNvCxnSpPr>
            <a:stCxn id="26" idx="3"/>
            <a:endCxn id="17" idx="1"/>
          </p:cNvCxnSpPr>
          <p:nvPr/>
        </p:nvCxnSpPr>
        <p:spPr>
          <a:xfrm>
            <a:off x="1402079" y="2837199"/>
            <a:ext cx="100968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65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6" grpId="0" animBg="1"/>
      <p:bldP spid="28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24084-8385-A8A6-DEF6-C2A69F63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52743F62-09DB-0AA6-0984-F4FB04EDF5C0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83A2555-AD5D-7859-BD6C-C67992C06F55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103EF0B3-B42E-CA11-BFB2-23EECAB869CE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CF51B5F7-9E00-914B-BF9C-3F7BDEB97204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B76AE43-4FAB-1E2F-7D09-38FC38FE1B97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92D6F1F-81F1-9F72-E49C-321D903A46F6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B63121C4-B3EB-CBA9-084B-B457164DE272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7C7A92FB-9F8F-957B-A84E-A5817B974E7A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2D352E8-E199-0AF4-0811-651449F32A93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F8DD340-55ED-DFCA-F77D-2A7CFA75C836}"/>
              </a:ext>
            </a:extLst>
          </p:cNvPr>
          <p:cNvSpPr txBox="1"/>
          <p:nvPr/>
        </p:nvSpPr>
        <p:spPr>
          <a:xfrm>
            <a:off x="477153" y="906747"/>
            <a:ext cx="8136904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实验设计：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2*2*2</a:t>
            </a:r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的混合设计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被试间变量：年龄（老年人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、年轻人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被试内变量：记忆方向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（过去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，未来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）、记忆距离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weeks, years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因变量：改编版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Autobiographical Interview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得分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给一个线索词（比如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dress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），让被试讲述一个过去或未来的具体事件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  ·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该事件必须满足：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① 时间地点具体（几分钟到几小时，事件跨度不超过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天）；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② 未来事件要同时满足合理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未经历过；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③ 用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现场视角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而非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旁观者视角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>
              <a:lnSpc>
                <a:spcPct val="150000"/>
              </a:lnSpc>
            </a:pP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52DFD7-AEA2-41D9-C260-B61B40CAD643}"/>
              </a:ext>
            </a:extLst>
          </p:cNvPr>
          <p:cNvSpPr txBox="1"/>
          <p:nvPr/>
        </p:nvSpPr>
        <p:spPr>
          <a:xfrm>
            <a:off x="5508104" y="2067694"/>
            <a:ext cx="3240360" cy="1815882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实验材料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（复现报告）：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32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个西班牙语名词，，从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EsPal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数据库匹配频率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意象性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具体性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分成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组，每组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词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示例（翻译后）：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dog, apple, drink……</a:t>
            </a:r>
          </a:p>
          <a:p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41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250C8-83A6-ADA7-FA65-A0CF6E390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3F94FD6-8D46-1713-73CD-69FF857F8093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60C7D04-429D-738F-E8DF-B91C406BD120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F94713CA-9B50-BF67-D831-EA6909D33C88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58CD15C9-EEAA-FF3B-C385-283888962CFD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2C0DF070-83E4-F1B1-C362-463DF064880B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79F0A02-15DD-33E3-9CFC-304D56C3DF46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C5C7925A-522A-B718-C3D7-C79AC8D4FC57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CC732867-4E37-9A47-D1F7-E2A4EDB0BFA5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B87CADC-DA1D-8248-DF2E-02FE5F89C4E1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D0BA3EBC-254A-CBC2-F0E6-CAB66954DFEF}"/>
              </a:ext>
            </a:extLst>
          </p:cNvPr>
          <p:cNvSpPr txBox="1"/>
          <p:nvPr/>
        </p:nvSpPr>
        <p:spPr>
          <a:xfrm>
            <a:off x="493588" y="578563"/>
            <a:ext cx="8136904" cy="52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2*2=4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种条件（过去几周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过去几年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未来几周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未来几年）下，每个条件给出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个线索词​ 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每人对每个线索词讲述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个事件，每人共讲述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个事件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每个事件在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分钟内口述，然后录音转文字进行评分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评分标准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(Levine et al. 2002)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①先选出中心事件，如果一个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trial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里有好几个中心事件，选讲得最细、时间最短的那件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②把转录后的文本切成一个个细节（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），每个细节是一份独立信息（如一个动作、一个想法）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③将每个细节标为两类：</a:t>
            </a:r>
          </a:p>
          <a:p>
            <a:pPr>
              <a:lnSpc>
                <a:spcPct val="150000"/>
              </a:lnSpc>
            </a:pP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（内部）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情景细节：和中心事件直接相关的时间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地点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感知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想法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动作</a:t>
            </a:r>
          </a:p>
          <a:p>
            <a:pPr>
              <a:lnSpc>
                <a:spcPct val="150000"/>
              </a:lnSpc>
            </a:pP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（外部）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非情景细节：语义知识、重复内容、与中心事件无关、时间地点不具体的延展事件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④每条件下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个事件</a:t>
            </a:r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只取前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个计分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（考虑到疲劳效应）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⑤将内部细节总数平均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= Internal detail score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，外部细节总数平均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= External detail score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⑥评分者信度：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个评分者对事件交叉评定，计算类内相关系数（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intraclass correlation, ICC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internal detail = 0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.96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external detail = 0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.92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，说明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个评分者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打分稳定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83ACF8-FE8D-BC84-9E13-33BCDD1C8B91}"/>
              </a:ext>
            </a:extLst>
          </p:cNvPr>
          <p:cNvSpPr/>
          <p:nvPr/>
        </p:nvSpPr>
        <p:spPr>
          <a:xfrm>
            <a:off x="493588" y="646493"/>
            <a:ext cx="7102748" cy="1023118"/>
          </a:xfrm>
          <a:prstGeom prst="rect">
            <a:avLst/>
          </a:prstGeom>
          <a:noFill/>
          <a:ln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00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A1FE2-E88D-6082-B9A5-F2B2FE98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FD1B91E-E115-7D68-AF5B-4D811D55AA0E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3167DA9-4679-E1E2-EECA-CCEDAD8DFB42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62030206-2C70-EA10-1945-8755958D6F81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B27584FC-02DB-8ED9-B446-84547994A7A4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C09792F-FCB0-A4CD-2D59-2F4D1E9B3C85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DD10284-A080-7DD9-9D67-C4A4CE1133BD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0A9B6C10-DD6B-D71C-D2DF-AAD493B2B6FB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8AD0F82D-6AE3-1800-75E2-33010090560F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AFCF3C-B7EF-86F8-88BE-B8D50655EA6D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8B7B52-11E6-C7DF-BE83-22C073434583}"/>
              </a:ext>
            </a:extLst>
          </p:cNvPr>
          <p:cNvSpPr txBox="1"/>
          <p:nvPr/>
        </p:nvSpPr>
        <p:spPr>
          <a:xfrm>
            <a:off x="487819" y="784436"/>
            <a:ext cx="8136904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被试数量：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年轻人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人，老年人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其他测量：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BA227BD-E770-9E5D-78A7-5C253A990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946760"/>
              </p:ext>
            </p:extLst>
          </p:nvPr>
        </p:nvGraphicFramePr>
        <p:xfrm>
          <a:off x="564232" y="2211710"/>
          <a:ext cx="6096000" cy="2362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975764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302484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16618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/>
                        <a:t>缩写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全称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测量内容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96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400"/>
                        <a:t>VPA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/>
                        <a:t>韦氏记忆量表第三版</a:t>
                      </a:r>
                      <a:endParaRPr lang="en-US" altLang="zh-CN" sz="1400"/>
                    </a:p>
                    <a:p>
                      <a:r>
                        <a:rPr lang="zh-CN" altLang="zh-CN" sz="1400"/>
                        <a:t>词语配对联想</a:t>
                      </a:r>
                      <a:r>
                        <a:rPr lang="zh-CN" altLang="en-US" sz="1400"/>
                        <a:t>测验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关系记忆</a:t>
                      </a:r>
                      <a:endParaRPr lang="en-US" altLang="zh-CN" sz="1400"/>
                    </a:p>
                    <a:p>
                      <a:r>
                        <a:rPr lang="zh-CN" altLang="en-US" sz="1400"/>
                        <a:t>关键自变量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9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DIGIT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数字广度倒背测验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工作记忆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执行功能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01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WCST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威斯康星卡片分类测验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400"/>
                        <a:t>执行功能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zh-CN" sz="1400"/>
                        <a:t>认知灵活性</a:t>
                      </a:r>
                      <a:endParaRPr lang="en-US" altLang="zh-CN" sz="1400"/>
                    </a:p>
                    <a:p>
                      <a:r>
                        <a:rPr lang="zh-CN" altLang="zh-CN" sz="1400"/>
                        <a:t>能连续正确用几类规则（max=6）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89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/>
                        <a:t>TPF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音素流畅测验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言语生成能力</a:t>
                      </a:r>
                      <a:r>
                        <a:rPr lang="en-US" altLang="zh-CN" sz="1400"/>
                        <a:t>/</a:t>
                      </a:r>
                      <a:r>
                        <a:rPr lang="zh-CN" altLang="en-US" sz="1400"/>
                        <a:t>执行功能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053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92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41C55-F303-EC79-E928-3A9D6836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341414A-E001-5444-D1B8-32BADAF45898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00150BC-88C5-EA5C-E39A-11BE8385AEA6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2CEA8F1D-A1A3-4D3A-0F7E-0B339112451F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431ED12B-9200-775D-2C74-A263AA6EE581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DB51A100-17CE-9DA2-95CD-82CD56556171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0BE0EDF-1BB3-76C8-AFB4-0A3F520A369C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6F4C3957-23FF-4ABF-49CD-230D99C46DBB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F40833DF-7481-E26A-DACA-509120C673DC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D0E9AF4-0BCD-87E4-A8C4-53E3A0BCFAD1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7624BCB9-F4E3-1209-368C-EFC97899F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69" y="843558"/>
            <a:ext cx="1390660" cy="5334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6463065-85C8-4CD9-F5FB-BE50473B8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59" y="1455729"/>
            <a:ext cx="5934118" cy="35433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1EEA7FD-7AD8-1F01-4240-663AB9827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13" y="1396606"/>
            <a:ext cx="2990872" cy="15240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7147CDB-202C-CE63-F7AA-0AF203C1D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3848" y="1108289"/>
            <a:ext cx="4877532" cy="20834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43B2068-53BF-2AB1-01C7-DFF966BA9466}"/>
              </a:ext>
            </a:extLst>
          </p:cNvPr>
          <p:cNvSpPr txBox="1"/>
          <p:nvPr/>
        </p:nvSpPr>
        <p:spPr>
          <a:xfrm>
            <a:off x="5652120" y="411510"/>
            <a:ext cx="180020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Internal details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7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870B3EC5-81CE-0358-FB5A-26BA618D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783795"/>
            <a:ext cx="4494499" cy="389229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4BB9AA51-EC7D-57AC-0D89-FFB5128D9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740512"/>
            <a:ext cx="7127441" cy="211927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F55453F-763D-DE40-2C9C-D486FBDC7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5816" y="2987766"/>
            <a:ext cx="5804139" cy="1688324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D4488F0E-94C2-C78A-1DCA-767B8C3505DD}"/>
              </a:ext>
            </a:extLst>
          </p:cNvPr>
          <p:cNvSpPr/>
          <p:nvPr/>
        </p:nvSpPr>
        <p:spPr>
          <a:xfrm>
            <a:off x="35497" y="740512"/>
            <a:ext cx="6912768" cy="201622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656FAB3-9242-9CA2-3841-E5C306CEDB66}"/>
              </a:ext>
            </a:extLst>
          </p:cNvPr>
          <p:cNvSpPr/>
          <p:nvPr/>
        </p:nvSpPr>
        <p:spPr>
          <a:xfrm>
            <a:off x="2885464" y="2859782"/>
            <a:ext cx="5760640" cy="201622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498841-F0AC-FDE9-F403-E089719A82A9}"/>
              </a:ext>
            </a:extLst>
          </p:cNvPr>
          <p:cNvSpPr txBox="1"/>
          <p:nvPr/>
        </p:nvSpPr>
        <p:spPr>
          <a:xfrm>
            <a:off x="5652120" y="411510"/>
            <a:ext cx="180020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Internal details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72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10759-C6FD-A449-1BBE-DE156914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7662B22-E829-BBF1-F771-93DA989F231D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1B37CF4-9400-19B9-1CFF-01462FC50793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9713E71D-4521-613B-2F1B-DDB301DC21EA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484124E-5F59-9B88-DAF6-2FA6895A2D34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D2BBA8D7-2332-C6A4-68EF-6199B0A8D602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9021D94-544D-BA37-B222-4893B56C8280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F37004C7-CED1-2400-3E73-1E2065DA3BB4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7EE47B1A-2227-604C-7ED5-69B90ADA8CA7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0B9F75-5914-94D3-9A31-C02FC20D7307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F9C7AAF-85B0-129E-20AB-6664FB0EA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11" y="1059582"/>
            <a:ext cx="4133880" cy="16192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5C121AE-3C2F-7BAB-9064-2A72268DE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21" y="1349636"/>
            <a:ext cx="4219606" cy="4953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C65DE35-0655-BD48-B181-BFC6EC85F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2283718"/>
            <a:ext cx="6581823" cy="191453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25D994C-DEFC-8B88-1614-088FF1590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104" y="1302011"/>
            <a:ext cx="1666887" cy="59055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D2143BB-7F23-A44F-58A5-A6DF17125678}"/>
              </a:ext>
            </a:extLst>
          </p:cNvPr>
          <p:cNvSpPr txBox="1"/>
          <p:nvPr/>
        </p:nvSpPr>
        <p:spPr>
          <a:xfrm>
            <a:off x="7211005" y="1229071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M, SD</a:t>
            </a:r>
          </a:p>
          <a:p>
            <a:r>
              <a:rPr lang="zh-CN" altLang="en-US"/>
              <a:t>细微差异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34E1B5-6154-4D72-E6A7-1FA236A075AC}"/>
              </a:ext>
            </a:extLst>
          </p:cNvPr>
          <p:cNvSpPr/>
          <p:nvPr/>
        </p:nvSpPr>
        <p:spPr>
          <a:xfrm>
            <a:off x="212908" y="1302011"/>
            <a:ext cx="4503108" cy="6936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488D81-EB06-0EDA-D80A-DBB4FCCD2E5D}"/>
              </a:ext>
            </a:extLst>
          </p:cNvPr>
          <p:cNvSpPr/>
          <p:nvPr/>
        </p:nvSpPr>
        <p:spPr>
          <a:xfrm>
            <a:off x="362670" y="2224912"/>
            <a:ext cx="6441577" cy="22910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777128-D34E-07F1-33A2-556B065C7122}"/>
              </a:ext>
            </a:extLst>
          </p:cNvPr>
          <p:cNvSpPr/>
          <p:nvPr/>
        </p:nvSpPr>
        <p:spPr>
          <a:xfrm>
            <a:off x="5292080" y="1131590"/>
            <a:ext cx="3395099" cy="8344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355010-0D7D-10B4-370D-292213FDDB56}"/>
              </a:ext>
            </a:extLst>
          </p:cNvPr>
          <p:cNvSpPr txBox="1"/>
          <p:nvPr/>
        </p:nvSpPr>
        <p:spPr>
          <a:xfrm>
            <a:off x="5652120" y="411510"/>
            <a:ext cx="180020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Internal details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04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BA986-202D-EA22-8D8F-0DDE2A54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071359C-E5FF-2891-A081-357FC97E13D3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9E94043-630F-AD62-D6AF-43A7ADE94C12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0432D21A-B5B7-CE10-BF97-0AE11D717856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B1DAE420-30FD-A74C-A885-EA1BF32A3EA6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9276A0B-5FE1-F576-4F84-2163D3A894FC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5BF4E7A8-B800-9F3E-6B7E-D9C3428CB148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D8B31D5E-2D47-5FC2-CB58-38A01174849C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0118E9A9-4F60-0C17-13C4-F911E3DA6F2C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F344355-8616-24E5-8C8F-C80C5CEF57BA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5D9457C8-9038-22B3-8EF5-5F361B23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08" y="693839"/>
            <a:ext cx="4848260" cy="218124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AE0343A-0E00-6687-E14A-030EBAD59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09" y="649158"/>
            <a:ext cx="6162720" cy="380050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2FF5A55-2619-FD85-94EE-0EF3AB2D0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843" y="1209665"/>
            <a:ext cx="4257706" cy="272417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DFF0CF9-D3A0-281D-3BD9-3BF61B69C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1419622"/>
            <a:ext cx="3672408" cy="232157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FEE03DB-FF25-9FE0-0EFB-95236259AE57}"/>
              </a:ext>
            </a:extLst>
          </p:cNvPr>
          <p:cNvSpPr txBox="1"/>
          <p:nvPr/>
        </p:nvSpPr>
        <p:spPr>
          <a:xfrm>
            <a:off x="5652120" y="411510"/>
            <a:ext cx="180020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Internal details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10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CFBF9-0BED-401D-2476-9936FAD4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112DA7C-4EEC-CDFA-C71F-89DBA582039C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0676EF2-DA05-F766-40AF-59E7A5420282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68E72FB4-C474-7B74-D34B-581368A20974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C9D3F901-AA4B-89F3-1E69-AADC99CA04E1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0DB085D-7A2F-2F38-9012-9809CDDB9306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A9878827-3DDA-34F0-B8BA-B9B89CD85C3C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DE7A4E24-7E52-A974-EDA2-7AEB38E51585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8E82429C-5266-3E72-0FC3-89CD682CAB57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D8695B7-D376-7A0E-B5A9-87C7EB3D4BFC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07E34EFB-A119-10CD-0F2B-DD1D62D79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14" y="617506"/>
            <a:ext cx="5857918" cy="177166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35BA000-DCDA-462F-CC2F-B608A89DC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492901"/>
            <a:ext cx="4429157" cy="15144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6EC16AC-E6EF-B87F-D063-BFCACDACB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30" y="3895596"/>
            <a:ext cx="6610398" cy="118110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4BAA35C-E947-DFD9-C29B-B8A5A5869470}"/>
              </a:ext>
            </a:extLst>
          </p:cNvPr>
          <p:cNvSpPr txBox="1"/>
          <p:nvPr/>
        </p:nvSpPr>
        <p:spPr>
          <a:xfrm>
            <a:off x="5652120" y="411510"/>
            <a:ext cx="180020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External details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77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3CE02-419F-1C7B-C2A1-56D757A1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3961F1A-F2CD-7000-1F02-C8B5C8D2C90A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EABB305-BA13-84E4-F7D6-D64C2CC32FBC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46C194AD-8988-B8B1-7DAD-EA1C649EA205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AF52F10-9FC5-6680-A82F-6E04A754B8CB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CB86BB15-908D-3131-0D8C-391FA31DF3E8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E89BCAF-7AC2-D41C-6B2B-C37BCF14794C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616A3738-148B-6632-F175-608B0045BE40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F36909A6-E189-879F-E7FF-E3CC1E4C6D43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9ABE620-A3BD-8FAC-EC69-AC8A78CE358D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Reproduce</a:t>
              </a:r>
              <a:endParaRPr lang="zh-CN" altLang="en-US" sz="1600" b="1" dirty="0">
                <a:cs typeface="+mn-ea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D30C49C0-E0DC-F2EF-4FBE-BCE8CD91E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830467"/>
            <a:ext cx="1476386" cy="51435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42C8510-9B87-EA7C-911D-C0A00AE6D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90" y="1275606"/>
            <a:ext cx="6772325" cy="318137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F57FC6B-94D7-917E-CA59-1FBD0A815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768515"/>
            <a:ext cx="4610579" cy="368846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E6AC5E4-B713-37C1-9C8A-BDD8C514A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155" y="613747"/>
            <a:ext cx="3675285" cy="36421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07E9345-37FA-9897-147F-BCC76CE988A6}"/>
              </a:ext>
            </a:extLst>
          </p:cNvPr>
          <p:cNvSpPr txBox="1"/>
          <p:nvPr/>
        </p:nvSpPr>
        <p:spPr>
          <a:xfrm>
            <a:off x="5652120" y="411510"/>
            <a:ext cx="180020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001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External details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7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36297-5099-37FA-41B1-63400DB7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F48533C-5611-1818-EC91-58E8DF558DDC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EBB119C-9B1B-9974-7BFD-2A91ED1A0A5D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35895988-0735-89B6-BF4B-FE0C3E5B94AB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72693DF0-9291-B660-8E87-3B87FF7E2B6B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08397DB1-BA79-F3D2-3DBA-5E7E3FA6145C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B372E11-5BE2-073C-A894-802A4D150B95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D9705B71-4AA0-9EF5-1A11-DE91AB4215D4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C6C53649-0DD3-FD32-0E3A-400D8007AFEC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6DB50E1-516B-C491-A9C2-0EFD802ABD24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Extend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146B88C3-E886-4227-C8B0-6CF93CEC582A}"/>
              </a:ext>
            </a:extLst>
          </p:cNvPr>
          <p:cNvSpPr txBox="1"/>
          <p:nvPr/>
        </p:nvSpPr>
        <p:spPr>
          <a:xfrm>
            <a:off x="416424" y="885650"/>
            <a:ext cx="8116016" cy="143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与复现报告一致，但与原始文献不一致的地方：</a:t>
            </a:r>
            <a:endParaRPr lang="en-US" altLang="zh-CN" sz="1600" b="1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1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exrernal details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在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YA/OA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上的主效应未被复现，方向一致（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YA &gt; OA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），但结果不显著，并且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external detail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在做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2×2×2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的混合方差分析时，所有交互效应和主效应都是不显著的；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2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、老年人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VPA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分数和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internal/external details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的相关分析均不显著。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sp>
        <p:nvSpPr>
          <p:cNvPr id="11" name="Making money is art…">
            <a:extLst>
              <a:ext uri="{FF2B5EF4-FFF2-40B4-BE49-F238E27FC236}">
                <a16:creationId xmlns:a16="http://schemas.microsoft.com/office/drawing/2014/main" id="{A5935788-D10A-8FFB-7B20-A7180C0E1F4D}"/>
              </a:ext>
            </a:extLst>
          </p:cNvPr>
          <p:cNvSpPr txBox="1"/>
          <p:nvPr/>
        </p:nvSpPr>
        <p:spPr>
          <a:xfrm>
            <a:off x="416424" y="2643758"/>
            <a:ext cx="8548064" cy="2169248"/>
          </a:xfrm>
          <a:prstGeom prst="rect">
            <a:avLst/>
          </a:prstGeom>
          <a:ln w="28575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可能原因：</a:t>
            </a:r>
            <a:endParaRPr lang="en-US" altLang="zh-CN" sz="1600" b="1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1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exrernal details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下，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YA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和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OA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的方差相差过大 → 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方差齐性检验</a:t>
            </a:r>
            <a:endParaRPr lang="en-US" altLang="zh-CN" sz="1600" b="1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2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external detail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在做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2×2×2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的混合方差分析时，所有交互效应和主效应都是不显著的 → 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      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复现报告的质疑：老年人 </a:t>
            </a: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3 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分钟通常讲不满，更好的指标是 </a:t>
            </a: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internal / (internal + external)</a:t>
            </a: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3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、老年人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VPA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分数和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internal/external details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的相关分析均不显著 → 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样本量小</a:t>
            </a:r>
            <a:endParaRPr lang="en-US" altLang="zh-CN" sz="1600" b="1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4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、补充分析：线性混合模型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5844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5C258-E216-4CDB-6CB9-B1EA4E37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0E6DACF-0091-CF68-4AB7-53BA43767039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EA720D7-4F9E-F1B8-0468-4FADDD183CF7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946A2AA8-501D-F40D-5F3A-FD4FD971D718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36437B4D-2871-2D46-BA04-5ECBB3047C60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A74F7AF-D315-4C52-0F19-14662B3A19C1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B828968-66FB-101E-E060-E2CAA3FFB247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A492921C-3FFB-4924-8166-DD9261BC8854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F2C0E5E4-6A1F-6379-1CA8-21A238BF08CF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CDDA8AF-0623-9AAD-5461-FA40D765DD45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Extend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B53D6517-556A-F7CF-52D5-8FF41DEC4C3F}"/>
              </a:ext>
            </a:extLst>
          </p:cNvPr>
          <p:cNvSpPr txBox="1"/>
          <p:nvPr/>
        </p:nvSpPr>
        <p:spPr>
          <a:xfrm>
            <a:off x="416424" y="885650"/>
            <a:ext cx="8116016" cy="325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1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、方差齐性检验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1D0B42E-D944-FDD3-1138-DACBFE191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99" y="1317692"/>
            <a:ext cx="4248181" cy="50482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F36CBED-8FA7-DF43-52CE-7436EA49F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7" y="1995686"/>
            <a:ext cx="5029237" cy="93345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40E24F2-814E-CA54-7F3A-652DC8BC3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04" y="2953369"/>
            <a:ext cx="7458130" cy="201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36411-3153-C316-2EFD-07DB025CF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3896887-5327-58F0-3A22-5D4FE940AD29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A3D07EC-09C7-982D-1D36-022FB615953C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2546FCB3-D23E-3B94-1CCA-C8AE5E00C459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53A1E15D-B5D0-66C0-3B06-C2EEF86E5B65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0094B7A-4B41-0621-3E8A-1D2B49B28CF1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AC50DD8-F8CA-0BFC-71E6-05E371642218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EF0C424F-83CB-0428-7486-BEE9ABBE098B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11D1775F-4E62-792D-2691-F6FA58EA2582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FCFC6AD-5008-7C9D-F069-437762BE0BF5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Extend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DBC2B216-DCCE-CEB7-635F-442085633B3C}"/>
              </a:ext>
            </a:extLst>
          </p:cNvPr>
          <p:cNvSpPr txBox="1"/>
          <p:nvPr/>
        </p:nvSpPr>
        <p:spPr>
          <a:xfrm>
            <a:off x="416424" y="885650"/>
            <a:ext cx="8116016" cy="69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2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、更好的指标是 </a:t>
            </a: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internal / (internal + external)</a:t>
            </a: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8DC187F-7EBA-B23C-5331-5F90B8993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74" y="1347614"/>
            <a:ext cx="6839000" cy="14573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1A174EB-6E36-1812-89CB-BD0DDDBBC4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567"/>
          <a:stretch>
            <a:fillRect/>
          </a:stretch>
        </p:blipFill>
        <p:spPr>
          <a:xfrm>
            <a:off x="397219" y="2931790"/>
            <a:ext cx="7391454" cy="168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450C6-301F-1869-7727-82BF463B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A4E4CE2-4087-3D17-317E-389ABEBC5835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CA706D3-61AC-C2A5-09B5-CA7C2E1046B4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68650425-87E7-70F7-5532-0EA4F08ADD54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4E6FAB60-BF69-8D3F-75F7-E208104FEDDD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4C4A2D5-3DBA-CBA9-8848-723DF5DF9255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50588691-8512-7966-AF09-48FB2B05B25F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D2798FEB-6AA2-A77D-D90C-B9A2B7581BC9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B4FFF96B-E8D8-94CB-BD0A-2B6EFCF3D9F9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C7721E1-E910-4D46-4ED8-B63D9862427C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Extend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19693738-FDE6-72BB-225E-ADEDCA9D2AB1}"/>
              </a:ext>
            </a:extLst>
          </p:cNvPr>
          <p:cNvSpPr txBox="1"/>
          <p:nvPr/>
        </p:nvSpPr>
        <p:spPr>
          <a:xfrm>
            <a:off x="416424" y="885650"/>
            <a:ext cx="8116016" cy="322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3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、相关分析样本量小（</a:t>
            </a: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OA=16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）→ </a:t>
            </a: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post-hoc power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CFDBE00-3D68-2EE5-5C68-175502A448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8"/>
          <a:stretch>
            <a:fillRect/>
          </a:stretch>
        </p:blipFill>
        <p:spPr>
          <a:xfrm>
            <a:off x="365003" y="1431050"/>
            <a:ext cx="1420918" cy="16192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4FD0274-5EA0-B156-F472-BB3301914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635646"/>
            <a:ext cx="5915068" cy="14763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2C53F08-F9C6-9651-8B71-76CAEED6D18F}"/>
              </a:ext>
            </a:extLst>
          </p:cNvPr>
          <p:cNvSpPr txBox="1"/>
          <p:nvPr/>
        </p:nvSpPr>
        <p:spPr>
          <a:xfrm>
            <a:off x="398097" y="3363838"/>
            <a:ext cx="7644239" cy="102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由于当前</a:t>
            </a:r>
            <a:r>
              <a:rPr lang="en-US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OA </a:t>
            </a: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组的样本量较小，计算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了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ost-hoc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ower</a:t>
            </a:r>
          </a:p>
          <a:p>
            <a:pPr>
              <a:lnSpc>
                <a:spcPct val="150000"/>
              </a:lnSpc>
            </a:pP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结果显示，在预设的效应量（</a:t>
            </a:r>
            <a:r>
              <a:rPr lang="en-US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= 0.55</a:t>
            </a: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）下，</a:t>
            </a:r>
            <a:r>
              <a:rPr lang="en-US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= 0.63</a:t>
            </a: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。即使</a:t>
            </a:r>
            <a:r>
              <a:rPr lang="en-US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VPA </a:t>
            </a: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TOT_int </a:t>
            </a: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之间存在较强相关性，现有样本量也有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1-0.63=0.37</a:t>
            </a:r>
            <a:r>
              <a:rPr lang="zh-CN" altLang="zh-CN" sz="14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的概率无法检测出显著性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4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D9F40-5146-4ADC-C0AD-FFC4E324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1853496-276B-C7E5-90C9-E2DAC2F8E57E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DE618A6-295C-8915-14AF-39BEE998E018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D59B1629-A4C5-1554-9C1B-0F6C4D119A9F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E88E6C62-4919-78D4-A485-BC7C60E9D70D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A7CEE53-8610-E59C-4272-22F8CAD4B9D1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D456F95-8BA4-0310-21A2-4FD2ED456BCC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9062A757-8EC1-0F21-461B-2F4265C8993F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2491277D-C589-72D1-3AD6-34E5F832A963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323085F-4427-74A0-CC59-A9CD1AB1737C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Extend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85C903C0-D490-2CB4-38DD-BD8A970CAA3A}"/>
              </a:ext>
            </a:extLst>
          </p:cNvPr>
          <p:cNvSpPr txBox="1"/>
          <p:nvPr/>
        </p:nvSpPr>
        <p:spPr>
          <a:xfrm>
            <a:off x="416424" y="885650"/>
            <a:ext cx="8116016" cy="322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4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、进一步验证：线性混合模型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24E116-2776-DDBB-B74A-901431BACAC3}"/>
              </a:ext>
            </a:extLst>
          </p:cNvPr>
          <p:cNvSpPr txBox="1"/>
          <p:nvPr/>
        </p:nvSpPr>
        <p:spPr>
          <a:xfrm>
            <a:off x="212908" y="4366773"/>
            <a:ext cx="7966308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处于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状态时，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GRUPO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的不同（从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）带来显著的正向提升（增加了约 </a:t>
            </a:r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15.6 </a:t>
            </a:r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个单位）。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老年人分数高于年轻人？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57919C4-71CD-C325-F686-E181536CA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24" y="1368208"/>
            <a:ext cx="6619923" cy="46672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19A387D-AD39-1298-C77E-0D4052526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24" y="1325958"/>
            <a:ext cx="6105570" cy="1666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F99345A-F749-50E8-E5A0-0317C8CC1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547" y="2277020"/>
            <a:ext cx="6029369" cy="19621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7236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0E869-BE8F-5D1C-0D3A-0E3A14C2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826200A-F7CE-1B8D-460C-1332D4E25955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3AA37B4-9368-2F76-BB0F-0538DF0DF1C2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220F4439-152D-5455-7E7D-BE9E24427A6E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076435DD-401E-8F99-4C1C-565FA99993AD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CFA443A-CB5D-7285-2FB2-93AC28B8FC1C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FADC98F-9F1C-9E2A-4DCC-421574C1FC18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35C3EDE0-8B61-6521-2C87-8B70C50A52AF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5AD8C5A9-D0C6-F5BC-9A58-50F03F74EDB8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52E7CA8-8A2F-434A-0B6F-77B5944225D3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Extend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0B1D8824-0A5C-B65D-D380-7C1A557D466F}"/>
              </a:ext>
            </a:extLst>
          </p:cNvPr>
          <p:cNvSpPr txBox="1"/>
          <p:nvPr/>
        </p:nvSpPr>
        <p:spPr>
          <a:xfrm>
            <a:off x="416424" y="885650"/>
            <a:ext cx="8116016" cy="322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4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、进一步验证：线性混合模型</a:t>
            </a: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-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交互作用显著下，简单效应检验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7C3CAA-40F3-0B4D-60F7-EB992D8B2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72" y="1377106"/>
            <a:ext cx="1495436" cy="19050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1AD321B-8B74-A97C-8E33-3FE781E7E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72" y="1571803"/>
            <a:ext cx="3248049" cy="19050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0BAFCBB-DD16-1B55-31C9-01493CDDC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72" y="1829941"/>
            <a:ext cx="2914671" cy="14287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2A98C15-AE4C-2D18-BA2F-5DF9A9C85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671" y="2345871"/>
            <a:ext cx="4200556" cy="114300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15525A5-3673-4B07-9467-97F64F562087}"/>
              </a:ext>
            </a:extLst>
          </p:cNvPr>
          <p:cNvSpPr txBox="1"/>
          <p:nvPr/>
        </p:nvSpPr>
        <p:spPr>
          <a:xfrm>
            <a:off x="323528" y="3861933"/>
            <a:ext cx="74829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年轻人在 Past 和 Future 两个条件下都显著高于老年人，但老年人在 Past 条件下，与 Future 的差距缩小了，从而拉高了整体平均差值。</a:t>
            </a:r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该实验任务可能激发了老年人“怀旧”或“提取过去经验”的认知过程。</a:t>
            </a:r>
          </a:p>
        </p:txBody>
      </p:sp>
    </p:spTree>
    <p:extLst>
      <p:ext uri="{BB962C8B-B14F-4D97-AF65-F5344CB8AC3E}">
        <p14:creationId xmlns:p14="http://schemas.microsoft.com/office/powerpoint/2010/main" val="374015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85D42-F319-4CDE-F358-FDB669AF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6EE4A8E-C278-676B-C74B-2ADF4F2307DD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AADB80F-A13B-A982-873E-869E058C5313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0B447417-4303-0365-CB27-996B38F368F7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133ACF2F-67DC-FB7B-D492-AACE947A7F29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7C2A93D-6FD8-8A67-1CF6-755327B315A9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C10A1FC5-1CD2-38D4-EC3A-7B3FC5E20AE6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91FEE0BF-E586-F35B-4B5F-62C5E43C2FED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EC08BCD5-7B60-36C7-880E-22991A7342EA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6C562F7-E55A-4CEE-25D1-A1B4B8D9A7A8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Extend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D545CA04-93B9-3FF6-7C1C-7A8070E14B50}"/>
              </a:ext>
            </a:extLst>
          </p:cNvPr>
          <p:cNvSpPr txBox="1"/>
          <p:nvPr/>
        </p:nvSpPr>
        <p:spPr>
          <a:xfrm>
            <a:off x="416424" y="885650"/>
            <a:ext cx="8116016" cy="322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4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、进一步验证：线性混合模型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6B856B2-ECB5-AE18-5A3C-88C1DF860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16" y="1396423"/>
            <a:ext cx="5314989" cy="14954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2818143-6542-AB45-7488-052B3A533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2211710"/>
            <a:ext cx="6124620" cy="19526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6033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7A879-8F31-4715-C60C-86BCC946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41C906E-279F-A43A-5D14-D52AA5BD976B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30B05F1-DE21-310A-50B2-6DFE96F8F3DA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8E6FFA8B-C5F1-40BF-9062-E5F072B5158D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AAA07956-E83A-5FB6-76DF-1A6DF22D8B9F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7ADA67DF-5FF5-9E71-8C0A-2EB4207FD9C3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DD7A1E5-51BB-31AB-1C93-51CB48107348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609667F6-DB56-EA3B-2DF9-E547DBC21AA5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CC3BF66D-D9C4-15CB-7B02-7596D217981D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589AEA4-BC57-5B38-9C82-3A0D9356741D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Assistant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2DF4176C-CD29-62AB-B4C2-D28B029972E9}"/>
              </a:ext>
            </a:extLst>
          </p:cNvPr>
          <p:cNvSpPr txBox="1"/>
          <p:nvPr/>
        </p:nvSpPr>
        <p:spPr>
          <a:xfrm>
            <a:off x="416424" y="885650"/>
            <a:ext cx="8116016" cy="69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AI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在其中的作用：</a:t>
            </a:r>
            <a:endParaRPr lang="en-US" altLang="zh-CN" sz="1600" b="1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1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、结合文献，提炼信息，翻译原始数据表头（原始数据来自官方语言非英语的地区）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96EDDE-22D4-AF3B-3291-B687F9BA2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36" y="1779662"/>
            <a:ext cx="5238788" cy="8477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4A6E908-B771-5D45-3E52-5A76E0D9B5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6615" b="58462"/>
          <a:stretch>
            <a:fillRect/>
          </a:stretch>
        </p:blipFill>
        <p:spPr>
          <a:xfrm>
            <a:off x="3131840" y="3075806"/>
            <a:ext cx="5219738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1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D10E4-4F27-A979-DA99-CA2BD699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C25CCD43-9F15-7429-CDE8-EA602AB0CD7E}"/>
              </a:ext>
            </a:extLst>
          </p:cNvPr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E20650C-C451-1246-2DB9-CEC7C82527AA}"/>
                </a:ext>
              </a:extLst>
            </p:cNvPr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F8B59634-CB28-5FC7-CA64-3051D1C20F62}"/>
                  </a:ext>
                </a:extLst>
              </p:cNvPr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B1070FE4-CF9A-8BB9-6930-E4C3B4EBAD8E}"/>
                    </a:ext>
                  </a:extLst>
                </p:cNvPr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06AD92A-6360-0F60-C0A6-5589C7547B50}"/>
                    </a:ext>
                  </a:extLst>
                </p:cNvPr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E74D6F2-09B6-1666-CE6A-FA135012E769}"/>
                    </a:ext>
                  </a:extLst>
                </p:cNvPr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BF21ECB2-A0A2-BD1D-FC74-034C2F6EDBF9}"/>
                  </a:ext>
                </a:extLst>
              </p:cNvPr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557E409C-583E-A642-09A1-BE1F4364FED0}"/>
                  </a:ext>
                </a:extLst>
              </p:cNvPr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E064757-9F4A-DF70-8E45-B9D4DCD6E5CD}"/>
                </a:ext>
              </a:extLst>
            </p:cNvPr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cs typeface="+mn-ea"/>
                </a:rPr>
                <a:t>Assistant</a:t>
              </a:r>
              <a:endParaRPr lang="zh-CN" altLang="en-US" sz="1600" b="1" dirty="0">
                <a:cs typeface="+mn-ea"/>
              </a:endParaRPr>
            </a:p>
          </p:txBody>
        </p:sp>
      </p:grpSp>
      <p:sp>
        <p:nvSpPr>
          <p:cNvPr id="53" name="Making money is art…">
            <a:extLst>
              <a:ext uri="{FF2B5EF4-FFF2-40B4-BE49-F238E27FC236}">
                <a16:creationId xmlns:a16="http://schemas.microsoft.com/office/drawing/2014/main" id="{D9087F34-13DF-B4A5-7991-DF5F041A952C}"/>
              </a:ext>
            </a:extLst>
          </p:cNvPr>
          <p:cNvSpPr txBox="1"/>
          <p:nvPr/>
        </p:nvSpPr>
        <p:spPr>
          <a:xfrm>
            <a:off x="416424" y="885650"/>
            <a:ext cx="8116016" cy="14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AI</a:t>
            </a:r>
            <a:r>
              <a:rPr lang="zh-CN" altLang="en-US" sz="1600" b="1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在其中的作用：</a:t>
            </a:r>
            <a:endParaRPr lang="en-US" altLang="zh-CN" sz="1600" b="1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2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、根据数据分析思路，提供代码框架，在作图上提供了很大帮助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3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、纠正</a:t>
            </a: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R Studio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的一些报错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lang="en-US" altLang="zh-CN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4</a:t>
            </a:r>
            <a:r>
              <a:rPr lang="zh-CN" altLang="en-US" sz="1600" kern="0">
                <a:latin typeface="Times New Roman" panose="02020603050405020304" pitchFamily="18" charset="0"/>
                <a:cs typeface="Times New Roman" panose="02020603050405020304" pitchFamily="18" charset="0"/>
                <a:sym typeface="Montserrat Light"/>
              </a:rPr>
              <a:t>、延伸分析时提供一些思路</a:t>
            </a:r>
            <a:endParaRPr lang="en-US" altLang="zh-CN" sz="1600" kern="0">
              <a:latin typeface="Times New Roman" panose="02020603050405020304" pitchFamily="18" charset="0"/>
              <a:cs typeface="Times New Roman" panose="02020603050405020304" pitchFamily="18" charset="0"/>
              <a:sym typeface="Montserrat Ligh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E7590AA-23D5-E153-B7DC-AEBD9D5FF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1995686"/>
            <a:ext cx="4981616" cy="19734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C9F7F82-DEAC-7E15-C2C6-4AE1DFED0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2505611"/>
            <a:ext cx="4966349" cy="119289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34D0439-98A1-DD8C-6F51-CCDC5470A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3723878"/>
            <a:ext cx="5048287" cy="56197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DB74AE7-EAC1-6F89-94FC-1516F5A29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4473271"/>
            <a:ext cx="4838735" cy="4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608931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9772" y="165539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Thank you</a:t>
            </a:r>
            <a:endParaRPr lang="zh-CN" altLang="en-US" sz="20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411760" y="2187029"/>
            <a:ext cx="427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>
                <a:cs typeface="+mn-ea"/>
              </a:rPr>
              <a:t>for your listening</a:t>
            </a:r>
            <a:endParaRPr lang="zh-CN" altLang="en-US" sz="3600" b="1" dirty="0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824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洁2018运营总结报告ppt模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c1lhhoj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1309</Words>
  <Application>Microsoft Office PowerPoint</Application>
  <PresentationFormat>全屏显示(16:9)</PresentationFormat>
  <Paragraphs>181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简洁2018运营总结报告ppt模板</dc:title>
  <dc:creator>gkl</dc:creator>
  <cp:lastModifiedBy>略 省</cp:lastModifiedBy>
  <cp:revision>275</cp:revision>
  <dcterms:created xsi:type="dcterms:W3CDTF">2018-11-28T05:41:12Z</dcterms:created>
  <dcterms:modified xsi:type="dcterms:W3CDTF">2026-07-02T11:58:59Z</dcterms:modified>
</cp:coreProperties>
</file>